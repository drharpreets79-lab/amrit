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gram title" descr="AMRIT application data flow"/>
          <p:cNvSpPr txBox="1"/>
          <p:nvPr/>
        </p:nvSpPr>
        <p:spPr>
          <a:xfrm>
            <a:off x="438912" y="201168"/>
            <a:ext cx="11292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  <a:latin typeface="Liberation Sans"/>
              </a:rPr>
              <a:t>AMRIT application data flow</a:t>
            </a:r>
          </a:p>
        </p:txBody>
      </p:sp>
      <p:sp>
        <p:nvSpPr>
          <p:cNvPr id="3" name="Diagram subtitle" descr="Full application • simplified operational view • editable native shapes"/>
          <p:cNvSpPr txBox="1"/>
          <p:nvPr/>
        </p:nvSpPr>
        <p:spPr>
          <a:xfrm>
            <a:off x="448056" y="621792"/>
            <a:ext cx="111556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87A"/>
                </a:solidFill>
                <a:latin typeface="Liberation Sans"/>
              </a:rPr>
              <a:t>Full application • simplified operational view • editable native shapes</a:t>
            </a:r>
          </a:p>
        </p:txBody>
      </p:sp>
      <p:sp>
        <p:nvSpPr>
          <p:cNvPr id="4" name="Title divider"/>
          <p:cNvSpPr/>
          <p:nvPr/>
        </p:nvSpPr>
        <p:spPr>
          <a:xfrm>
            <a:off x="438912" y="896112"/>
            <a:ext cx="11311128" cy="22860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sktop zone" descr="AMRIT Desktop: offline laboratory capture, validation and local analysis"/>
          <p:cNvSpPr/>
          <p:nvPr/>
        </p:nvSpPr>
        <p:spPr>
          <a:xfrm>
            <a:off x="411480" y="1024128"/>
            <a:ext cx="3968496" cy="5212080"/>
          </a:xfrm>
          <a:prstGeom prst="roundRect">
            <a:avLst/>
          </a:prstGeom>
          <a:solidFill>
            <a:srgbClr val="EAF4FB"/>
          </a:solidFill>
          <a:ln w="1778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sktop header"/>
          <p:cNvSpPr/>
          <p:nvPr/>
        </p:nvSpPr>
        <p:spPr>
          <a:xfrm>
            <a:off x="411480" y="1024128"/>
            <a:ext cx="3968496" cy="566928"/>
          </a:xfrm>
          <a:prstGeom prst="roundRect">
            <a:avLst/>
          </a:prstGeom>
          <a:solidFill>
            <a:srgbClr val="0072B2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AMRIT Desktop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FFFFFF"/>
                </a:solidFill>
                <a:latin typeface="Liberation Sans"/>
              </a:rPr>
              <a:t>offline laboratory capture, validation and local analysis</a:t>
            </a:r>
          </a:p>
        </p:txBody>
      </p:sp>
      <p:sp>
        <p:nvSpPr>
          <p:cNvPr id="7" name="Exchange zone" descr="SECURE DATA EXCHANGE: bidirectional control flow • aggregate data outward"/>
          <p:cNvSpPr/>
          <p:nvPr/>
        </p:nvSpPr>
        <p:spPr>
          <a:xfrm>
            <a:off x="4526280" y="1024128"/>
            <a:ext cx="3127248" cy="5212080"/>
          </a:xfrm>
          <a:prstGeom prst="roundRect">
            <a:avLst/>
          </a:prstGeom>
          <a:solidFill>
            <a:srgbClr val="EEF2F6"/>
          </a:solidFill>
          <a:ln w="17780">
            <a:solidFill>
              <a:srgbClr val="3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change header"/>
          <p:cNvSpPr/>
          <p:nvPr/>
        </p:nvSpPr>
        <p:spPr>
          <a:xfrm>
            <a:off x="4526280" y="1024128"/>
            <a:ext cx="3127248" cy="566928"/>
          </a:xfrm>
          <a:prstGeom prst="roundRect">
            <a:avLst/>
          </a:prstGeom>
          <a:solidFill>
            <a:srgbClr val="344054"/>
          </a:solidFill>
          <a:ln w="12700">
            <a:solidFill>
              <a:srgbClr val="34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SECURE DATA EXCHANGE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FFFFFF"/>
                </a:solidFill>
                <a:latin typeface="Liberation Sans"/>
              </a:rPr>
              <a:t>bidirectional control flow • aggregate data outward</a:t>
            </a:r>
          </a:p>
        </p:txBody>
      </p:sp>
      <p:sp>
        <p:nvSpPr>
          <p:cNvPr id="9" name="Integrator zone" descr="AMRIT Centerlized Integrator: national aggregate, analytics and governance layer"/>
          <p:cNvSpPr/>
          <p:nvPr/>
        </p:nvSpPr>
        <p:spPr>
          <a:xfrm>
            <a:off x="7799831" y="1024128"/>
            <a:ext cx="3977639" cy="5212080"/>
          </a:xfrm>
          <a:prstGeom prst="roundRect">
            <a:avLst/>
          </a:prstGeom>
          <a:solidFill>
            <a:srgbClr val="FFF1E8"/>
          </a:solidFill>
          <a:ln w="1778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ntegrator header"/>
          <p:cNvSpPr/>
          <p:nvPr/>
        </p:nvSpPr>
        <p:spPr>
          <a:xfrm>
            <a:off x="7799831" y="1024128"/>
            <a:ext cx="3977639" cy="566928"/>
          </a:xfrm>
          <a:prstGeom prst="roundRect">
            <a:avLst/>
          </a:prstGeom>
          <a:solidFill>
            <a:srgbClr val="D55E00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AMRIT Centerlized Integrator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FFFFFF"/>
                </a:solidFill>
                <a:latin typeface="Liberation Sans"/>
              </a:rPr>
              <a:t>national aggregate, analytics and governance layer</a:t>
            </a:r>
          </a:p>
        </p:txBody>
      </p:sp>
      <p:sp>
        <p:nvSpPr>
          <p:cNvPr id="11" name="Desktop data sources" descr="DATA SOURCES. Manual entry • Excel / CSV • LIS / WHONET"/>
          <p:cNvSpPr/>
          <p:nvPr/>
        </p:nvSpPr>
        <p:spPr>
          <a:xfrm>
            <a:off x="612648" y="1719072"/>
            <a:ext cx="356616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sktop data sources badge"/>
          <p:cNvSpPr/>
          <p:nvPr/>
        </p:nvSpPr>
        <p:spPr>
          <a:xfrm>
            <a:off x="722376" y="1856231"/>
            <a:ext cx="292608" cy="292608"/>
          </a:xfrm>
          <a:prstGeom prst="ellipse">
            <a:avLst/>
          </a:prstGeom>
          <a:solidFill>
            <a:srgbClr val="0072B2"/>
          </a:solidFill>
          <a:ln w="889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3" name="Desktop data sources title" descr="DATA SOURCES"/>
          <p:cNvSpPr txBox="1"/>
          <p:nvPr/>
        </p:nvSpPr>
        <p:spPr>
          <a:xfrm>
            <a:off x="1106424" y="1783080"/>
            <a:ext cx="29443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0072B2"/>
                </a:solidFill>
                <a:latin typeface="Liberation Sans"/>
              </a:rPr>
              <a:t>DATA SOURCES</a:t>
            </a:r>
          </a:p>
        </p:txBody>
      </p:sp>
      <p:sp>
        <p:nvSpPr>
          <p:cNvPr id="14" name="Desktop data sources detail" descr="Manual entry • Excel / CSV • LIS / WHONET"/>
          <p:cNvSpPr txBox="1"/>
          <p:nvPr/>
        </p:nvSpPr>
        <p:spPr>
          <a:xfrm>
            <a:off x="1106424" y="2002536"/>
            <a:ext cx="2944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2033"/>
                </a:solidFill>
                <a:latin typeface="Liberation Sans"/>
              </a:rPr>
              <a:t>Manual entry • Excel / CSV • LIS / WHONET</a:t>
            </a:r>
          </a:p>
        </p:txBody>
      </p:sp>
      <p:sp>
        <p:nvSpPr>
          <p:cNvPr id="15" name="Desktop flow 1 to 2"/>
          <p:cNvSpPr/>
          <p:nvPr/>
        </p:nvSpPr>
        <p:spPr>
          <a:xfrm>
            <a:off x="2304288" y="2295144"/>
            <a:ext cx="201168" cy="146304"/>
          </a:xfrm>
          <a:prstGeom prst="downArrow">
            <a:avLst/>
          </a:prstGeom>
          <a:solidFill>
            <a:srgbClr val="0072B2"/>
          </a:solidFill>
          <a:ln w="635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sktop capture and mapping" descr="CAPTURE &amp; MAP. Forms • protected template • reusable column profiles"/>
          <p:cNvSpPr/>
          <p:nvPr/>
        </p:nvSpPr>
        <p:spPr>
          <a:xfrm>
            <a:off x="612648" y="2459736"/>
            <a:ext cx="3566160" cy="603504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sktop capture and mapping badge"/>
          <p:cNvSpPr/>
          <p:nvPr/>
        </p:nvSpPr>
        <p:spPr>
          <a:xfrm>
            <a:off x="722376" y="2615184"/>
            <a:ext cx="292608" cy="292608"/>
          </a:xfrm>
          <a:prstGeom prst="ellipse">
            <a:avLst/>
          </a:prstGeom>
          <a:solidFill>
            <a:srgbClr val="009E73"/>
          </a:solidFill>
          <a:ln w="889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8" name="Desktop capture and mapping title" descr="CAPTURE &amp; MAP"/>
          <p:cNvSpPr txBox="1"/>
          <p:nvPr/>
        </p:nvSpPr>
        <p:spPr>
          <a:xfrm>
            <a:off x="1106424" y="2523744"/>
            <a:ext cx="29443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009E73"/>
                </a:solidFill>
                <a:latin typeface="Liberation Sans"/>
              </a:rPr>
              <a:t>CAPTURE &amp; MAP</a:t>
            </a:r>
          </a:p>
        </p:txBody>
      </p:sp>
      <p:sp>
        <p:nvSpPr>
          <p:cNvPr id="19" name="Desktop capture and mapping detail" descr="Forms • protected template • reusable column profiles"/>
          <p:cNvSpPr txBox="1"/>
          <p:nvPr/>
        </p:nvSpPr>
        <p:spPr>
          <a:xfrm>
            <a:off x="1106424" y="274320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Liberation Sans"/>
              </a:rPr>
              <a:t>Forms • protected template • reusable column profiles</a:t>
            </a:r>
          </a:p>
        </p:txBody>
      </p:sp>
      <p:sp>
        <p:nvSpPr>
          <p:cNvPr id="20" name="Desktop flow 2 to 3"/>
          <p:cNvSpPr/>
          <p:nvPr/>
        </p:nvSpPr>
        <p:spPr>
          <a:xfrm>
            <a:off x="2304288" y="3081528"/>
            <a:ext cx="201168" cy="146304"/>
          </a:xfrm>
          <a:prstGeom prst="downArrow">
            <a:avLst/>
          </a:prstGeom>
          <a:solidFill>
            <a:srgbClr val="009E73"/>
          </a:solidFill>
          <a:ln w="635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sktop validation and panel matching" descr="VALIDATE WITH CUSTOM MASTERS &amp; PANELS. Required fields • organism / sample codes • panel match • AST and duplicate checks"/>
          <p:cNvSpPr/>
          <p:nvPr/>
        </p:nvSpPr>
        <p:spPr>
          <a:xfrm>
            <a:off x="612648" y="3236976"/>
            <a:ext cx="3566160" cy="749808"/>
          </a:xfrm>
          <a:prstGeom prst="roundRect">
            <a:avLst/>
          </a:prstGeom>
          <a:solidFill>
            <a:srgbClr val="FFF7E3"/>
          </a:solidFill>
          <a:ln w="13335">
            <a:solidFill>
              <a:srgbClr val="8B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sktop validation and panel matching badge"/>
          <p:cNvSpPr/>
          <p:nvPr/>
        </p:nvSpPr>
        <p:spPr>
          <a:xfrm>
            <a:off x="722376" y="3465576"/>
            <a:ext cx="292608" cy="292608"/>
          </a:xfrm>
          <a:prstGeom prst="ellipse">
            <a:avLst/>
          </a:prstGeom>
          <a:solidFill>
            <a:srgbClr val="8B5E00"/>
          </a:solidFill>
          <a:ln w="8890">
            <a:solidFill>
              <a:srgbClr val="8B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23" name="Desktop validation and panel matching title" descr="VALIDATE WITH CUSTOM MASTERS &amp; PANELS"/>
          <p:cNvSpPr txBox="1"/>
          <p:nvPr/>
        </p:nvSpPr>
        <p:spPr>
          <a:xfrm>
            <a:off x="1106424" y="3300984"/>
            <a:ext cx="29443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8B5E00"/>
                </a:solidFill>
                <a:latin typeface="Liberation Sans"/>
              </a:rPr>
              <a:t>VALIDATE WITH CUSTOM MASTERS &amp; PANELS</a:t>
            </a:r>
          </a:p>
        </p:txBody>
      </p:sp>
      <p:sp>
        <p:nvSpPr>
          <p:cNvPr id="24" name="Desktop validation and panel matching detail" descr="Required fields • organism / sample codes • panel match • AST and duplicate checks"/>
          <p:cNvSpPr txBox="1"/>
          <p:nvPr/>
        </p:nvSpPr>
        <p:spPr>
          <a:xfrm>
            <a:off x="1106424" y="3520440"/>
            <a:ext cx="2944368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72033"/>
                </a:solidFill>
                <a:latin typeface="Liberation Sans"/>
              </a:rPr>
              <a:t>Required fields • organism / sample codes • panel match • AST and duplicate checks</a:t>
            </a:r>
          </a:p>
        </p:txBody>
      </p:sp>
      <p:sp>
        <p:nvSpPr>
          <p:cNvPr id="25" name="Desktop flow 3 to 4"/>
          <p:cNvSpPr/>
          <p:nvPr/>
        </p:nvSpPr>
        <p:spPr>
          <a:xfrm>
            <a:off x="2304288" y="4005072"/>
            <a:ext cx="201168" cy="146304"/>
          </a:xfrm>
          <a:prstGeom prst="downArrow">
            <a:avLst/>
          </a:prstGeom>
          <a:solidFill>
            <a:srgbClr val="8B5E00"/>
          </a:solidFill>
          <a:ln w="6350">
            <a:solidFill>
              <a:srgbClr val="8B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sktop local data layer" descr="LOCAL SQLITE DATA LAYER. Isolates • masters • import profiles • audit and durable outbox"/>
          <p:cNvSpPr/>
          <p:nvPr/>
        </p:nvSpPr>
        <p:spPr>
          <a:xfrm>
            <a:off x="612648" y="4151376"/>
            <a:ext cx="3566160" cy="676656"/>
          </a:xfrm>
          <a:prstGeom prst="roundRect">
            <a:avLst/>
          </a:prstGeom>
          <a:solidFill>
            <a:srgbClr val="F3EEFA"/>
          </a:solidFill>
          <a:ln w="13335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sktop local data layer badge"/>
          <p:cNvSpPr/>
          <p:nvPr/>
        </p:nvSpPr>
        <p:spPr>
          <a:xfrm>
            <a:off x="722376" y="4343400"/>
            <a:ext cx="292608" cy="292608"/>
          </a:xfrm>
          <a:prstGeom prst="ellipse">
            <a:avLst/>
          </a:prstGeom>
          <a:solidFill>
            <a:srgbClr val="7B61A8"/>
          </a:solidFill>
          <a:ln w="889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iberation Sans"/>
              </a:rPr>
              <a:t>4</a:t>
            </a:r>
          </a:p>
        </p:txBody>
      </p:sp>
      <p:sp>
        <p:nvSpPr>
          <p:cNvPr id="28" name="Desktop local data layer title" descr="LOCAL SQLITE DATA LAYER"/>
          <p:cNvSpPr txBox="1"/>
          <p:nvPr/>
        </p:nvSpPr>
        <p:spPr>
          <a:xfrm>
            <a:off x="1106424" y="4215384"/>
            <a:ext cx="29443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7B61A8"/>
                </a:solidFill>
                <a:latin typeface="Liberation Sans"/>
              </a:rPr>
              <a:t>LOCAL SQLITE DATA LAYER</a:t>
            </a:r>
          </a:p>
        </p:txBody>
      </p:sp>
      <p:sp>
        <p:nvSpPr>
          <p:cNvPr id="29" name="Desktop local data layer detail" descr="Isolates • masters • import profiles • audit and durable outbox"/>
          <p:cNvSpPr txBox="1"/>
          <p:nvPr/>
        </p:nvSpPr>
        <p:spPr>
          <a:xfrm>
            <a:off x="1106424" y="4434840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172033"/>
                </a:solidFill>
                <a:latin typeface="Liberation Sans"/>
              </a:rPr>
              <a:t>Isolates • masters • import profiles • audit and durable outbox</a:t>
            </a:r>
          </a:p>
        </p:txBody>
      </p:sp>
      <p:sp>
        <p:nvSpPr>
          <p:cNvPr id="30" name="Desktop flow 4 to 5"/>
          <p:cNvSpPr/>
          <p:nvPr/>
        </p:nvSpPr>
        <p:spPr>
          <a:xfrm>
            <a:off x="2304288" y="4846320"/>
            <a:ext cx="201168" cy="146304"/>
          </a:xfrm>
          <a:prstGeom prst="downArrow">
            <a:avLst/>
          </a:prstGeom>
          <a:solidFill>
            <a:srgbClr val="7B61A8"/>
          </a:solidFill>
          <a:ln w="635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sktop analytics exports and sync" descr="ANALYZE, EXPORT &amp; SYNCHRONIZE. Trends and expert alerts • WHONET / HL7 / FHIR exports • de-identified aggregates"/>
          <p:cNvSpPr/>
          <p:nvPr/>
        </p:nvSpPr>
        <p:spPr>
          <a:xfrm>
            <a:off x="612648" y="4992624"/>
            <a:ext cx="3566160" cy="93268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0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sktop analytics exports and sync badge"/>
          <p:cNvSpPr/>
          <p:nvPr/>
        </p:nvSpPr>
        <p:spPr>
          <a:xfrm>
            <a:off x="722376" y="5312664"/>
            <a:ext cx="292608" cy="292608"/>
          </a:xfrm>
          <a:prstGeom prst="ellipse">
            <a:avLst/>
          </a:prstGeom>
          <a:solidFill>
            <a:srgbClr val="004E7C"/>
          </a:solidFill>
          <a:ln w="8890">
            <a:solidFill>
              <a:srgbClr val="004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33" name="Desktop analytics exports and sync title" descr="ANALYZE, EXPORT &amp; SYNCHRONIZE"/>
          <p:cNvSpPr txBox="1"/>
          <p:nvPr/>
        </p:nvSpPr>
        <p:spPr>
          <a:xfrm>
            <a:off x="1106424" y="5056632"/>
            <a:ext cx="29443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004E7C"/>
                </a:solidFill>
                <a:latin typeface="Liberation Sans"/>
              </a:rPr>
              <a:t>ANALYZE, EXPORT &amp; SYNCHRONIZE</a:t>
            </a:r>
          </a:p>
        </p:txBody>
      </p:sp>
      <p:sp>
        <p:nvSpPr>
          <p:cNvPr id="34" name="Desktop analytics exports and sync detail" descr="Trends and expert alerts • WHONET / HL7 / FHIR exports • de-identified aggregates"/>
          <p:cNvSpPr txBox="1"/>
          <p:nvPr/>
        </p:nvSpPr>
        <p:spPr>
          <a:xfrm>
            <a:off x="1106424" y="5276088"/>
            <a:ext cx="294436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Liberation Sans"/>
              </a:rPr>
              <a:t>Trends and expert alerts • WHONET / HL7 / FHIR exports • de-identified aggregates</a:t>
            </a:r>
          </a:p>
        </p:txBody>
      </p:sp>
      <p:sp>
        <p:nvSpPr>
          <p:cNvPr id="35" name="Desktop privacy note" descr="Patient-level records remain on the device"/>
          <p:cNvSpPr txBox="1"/>
          <p:nvPr/>
        </p:nvSpPr>
        <p:spPr>
          <a:xfrm>
            <a:off x="749808" y="5989320"/>
            <a:ext cx="32918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4E7C"/>
                </a:solidFill>
                <a:latin typeface="Liberation Sans"/>
              </a:rPr>
              <a:t>Patient-level records remain on the device</a:t>
            </a:r>
          </a:p>
        </p:txBody>
      </p:sp>
      <p:sp>
        <p:nvSpPr>
          <p:cNvPr id="36" name="Request direction label" descr="INTEGRATOR → DESKTOP"/>
          <p:cNvSpPr txBox="1"/>
          <p:nvPr/>
        </p:nvSpPr>
        <p:spPr>
          <a:xfrm>
            <a:off x="4745736" y="1728216"/>
            <a:ext cx="26883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5C687A"/>
                </a:solidFill>
                <a:latin typeface="Liberation Sans"/>
              </a:rPr>
              <a:t>INTEGRATOR → DESKTOP</a:t>
            </a:r>
          </a:p>
        </p:txBody>
      </p:sp>
      <p:sp>
        <p:nvSpPr>
          <p:cNvPr id="37" name="Queries from integrator to desktop" descr="Queries &amp; live refresh. long-poll • WebSocket"/>
          <p:cNvSpPr/>
          <p:nvPr/>
        </p:nvSpPr>
        <p:spPr>
          <a:xfrm>
            <a:off x="4837176" y="1956816"/>
            <a:ext cx="2496312" cy="713232"/>
          </a:xfrm>
          <a:prstGeom prst="leftArrow">
            <a:avLst/>
          </a:prstGeom>
          <a:solidFill>
            <a:srgbClr val="0072B2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128016" tIns="64008" bIns="36576"/>
          <a:lstStyle/>
          <a:p>
            <a:pPr algn="ctr">
              <a:spcAft>
                <a:spcPts val="100"/>
              </a:spcAft>
            </a:pPr>
            <a:r>
              <a:rPr sz="1080" b="1">
                <a:solidFill>
                  <a:srgbClr val="FFFFFF"/>
                </a:solidFill>
                <a:latin typeface="Liberation Sans"/>
              </a:rPr>
              <a:t>Queries &amp; live refresh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Liberation Sans"/>
              </a:rPr>
              <a:t>long-poll • WebSocket</a:t>
            </a:r>
          </a:p>
        </p:txBody>
      </p:sp>
      <p:sp>
        <p:nvSpPr>
          <p:cNvPr id="38" name="Aggregate direction label" descr="DESKTOP → INTEGRATOR"/>
          <p:cNvSpPr txBox="1"/>
          <p:nvPr/>
        </p:nvSpPr>
        <p:spPr>
          <a:xfrm>
            <a:off x="4745736" y="2880360"/>
            <a:ext cx="26883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5C687A"/>
                </a:solidFill>
                <a:latin typeface="Liberation Sans"/>
              </a:rPr>
              <a:t>DESKTOP → INTEGRATOR</a:t>
            </a:r>
          </a:p>
        </p:txBody>
      </p:sp>
      <p:sp>
        <p:nvSpPr>
          <p:cNvPr id="39" name="Aggregates from desktop to integrator" descr="Heartbeat &amp; status. aggregate JSON / FHIR"/>
          <p:cNvSpPr/>
          <p:nvPr/>
        </p:nvSpPr>
        <p:spPr>
          <a:xfrm>
            <a:off x="4837176" y="3108960"/>
            <a:ext cx="2496312" cy="713232"/>
          </a:xfrm>
          <a:prstGeom prst="rightArrow">
            <a:avLst/>
          </a:prstGeom>
          <a:solidFill>
            <a:srgbClr val="D55E00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347472" tIns="64008" bIns="36576"/>
          <a:lstStyle/>
          <a:p>
            <a:pPr algn="ctr">
              <a:spcAft>
                <a:spcPts val="100"/>
              </a:spcAft>
            </a:pPr>
            <a:r>
              <a:rPr sz="1080" b="1">
                <a:solidFill>
                  <a:srgbClr val="FFFFFF"/>
                </a:solidFill>
                <a:latin typeface="Liberation Sans"/>
              </a:rPr>
              <a:t>Heartbeat &amp; status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Liberation Sans"/>
              </a:rPr>
              <a:t>aggregate JSON / FHIR</a:t>
            </a:r>
          </a:p>
        </p:txBody>
      </p:sp>
      <p:sp>
        <p:nvSpPr>
          <p:cNvPr id="40" name="Product direction label" descr="DESKTOP → INTEGRATOR"/>
          <p:cNvSpPr txBox="1"/>
          <p:nvPr/>
        </p:nvSpPr>
        <p:spPr>
          <a:xfrm>
            <a:off x="4745736" y="4151376"/>
            <a:ext cx="26883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5C687A"/>
                </a:solidFill>
                <a:latin typeface="Liberation Sans"/>
              </a:rPr>
              <a:t>DESKTOP → INTEGRATOR</a:t>
            </a:r>
          </a:p>
        </p:txBody>
      </p:sp>
      <p:sp>
        <p:nvSpPr>
          <p:cNvPr id="41" name="One Health products from desktop to integrator" descr="One Health products. aggregate + lineage / quality"/>
          <p:cNvSpPr/>
          <p:nvPr/>
        </p:nvSpPr>
        <p:spPr>
          <a:xfrm>
            <a:off x="4837176" y="4379976"/>
            <a:ext cx="2496312" cy="713232"/>
          </a:xfrm>
          <a:prstGeom prst="rightArrow">
            <a:avLst/>
          </a:prstGeom>
          <a:solidFill>
            <a:srgbClr val="009E73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347472" tIns="64008" bIns="36576"/>
          <a:lstStyle/>
          <a:p>
            <a:pPr algn="ctr">
              <a:spcAft>
                <a:spcPts val="100"/>
              </a:spcAft>
            </a:pPr>
            <a:r>
              <a:rPr sz="1080" b="1">
                <a:solidFill>
                  <a:srgbClr val="FFFFFF"/>
                </a:solidFill>
                <a:latin typeface="Liberation Sans"/>
              </a:rPr>
              <a:t>One Health products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Liberation Sans"/>
              </a:rPr>
              <a:t>aggregate + lineage / quality</a:t>
            </a:r>
          </a:p>
        </p:txBody>
      </p:sp>
      <p:sp>
        <p:nvSpPr>
          <p:cNvPr id="42" name="Exchange security controls" descr="HTTPS or WSS, bearer and site token, privacy validation and audit."/>
          <p:cNvSpPr/>
          <p:nvPr/>
        </p:nvSpPr>
        <p:spPr>
          <a:xfrm>
            <a:off x="4828032" y="5340096"/>
            <a:ext cx="2514600" cy="585216"/>
          </a:xfrm>
          <a:prstGeom prst="roundRect">
            <a:avLst/>
          </a:prstGeom>
          <a:solidFill>
            <a:srgbClr val="006B4E"/>
          </a:solidFill>
          <a:ln w="12700">
            <a:solidFill>
              <a:srgbClr val="006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Liberation Sans"/>
              </a:rPr>
              <a:t>HTTPS / WSS  •  bearer + site token</a:t>
            </a:r>
          </a:p>
          <a:p>
            <a:pPr algn="ctr"/>
            <a:r>
              <a:rPr sz="830">
                <a:solidFill>
                  <a:srgbClr val="FFFFFF"/>
                </a:solidFill>
                <a:latin typeface="Liberation Sans"/>
              </a:rPr>
              <a:t>privacy validation • retry • audit</a:t>
            </a:r>
          </a:p>
        </p:txBody>
      </p:sp>
      <p:sp>
        <p:nvSpPr>
          <p:cNvPr id="43" name="Exchange privacy note" descr="No patient identifiers cross this boundary"/>
          <p:cNvSpPr txBox="1"/>
          <p:nvPr/>
        </p:nvSpPr>
        <p:spPr>
          <a:xfrm>
            <a:off x="4828032" y="5989320"/>
            <a:ext cx="25146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B4E"/>
                </a:solidFill>
                <a:latin typeface="Liberation Sans"/>
              </a:rPr>
              <a:t>No patient identifiers cross this boundary</a:t>
            </a:r>
          </a:p>
        </p:txBody>
      </p:sp>
      <p:sp>
        <p:nvSpPr>
          <p:cNvPr id="44" name="Integrator stakeholders" descr="STAKEHOLDERS &amp; SYSTEMS. National • state • district • hospital • analyst / public"/>
          <p:cNvSpPr/>
          <p:nvPr/>
        </p:nvSpPr>
        <p:spPr>
          <a:xfrm>
            <a:off x="8001000" y="1719072"/>
            <a:ext cx="3575304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8E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ntegrator stakeholders badge"/>
          <p:cNvSpPr/>
          <p:nvPr/>
        </p:nvSpPr>
        <p:spPr>
          <a:xfrm>
            <a:off x="8110727" y="1856231"/>
            <a:ext cx="292608" cy="292608"/>
          </a:xfrm>
          <a:prstGeom prst="ellipse">
            <a:avLst/>
          </a:prstGeom>
          <a:solidFill>
            <a:srgbClr val="8E3F00"/>
          </a:solidFill>
          <a:ln w="8890">
            <a:solidFill>
              <a:srgbClr val="8E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46" name="Integrator stakeholders title" descr="STAKEHOLDERS &amp; SYSTEMS"/>
          <p:cNvSpPr txBox="1"/>
          <p:nvPr/>
        </p:nvSpPr>
        <p:spPr>
          <a:xfrm>
            <a:off x="8494776" y="1783080"/>
            <a:ext cx="2953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8E3F00"/>
                </a:solidFill>
                <a:latin typeface="Liberation Sans"/>
              </a:rPr>
              <a:t>STAKEHOLDERS &amp; SYSTEMS</a:t>
            </a:r>
          </a:p>
        </p:txBody>
      </p:sp>
      <p:sp>
        <p:nvSpPr>
          <p:cNvPr id="47" name="Integrator stakeholders detail" descr="National • state • district • hospital • analyst / public"/>
          <p:cNvSpPr txBox="1"/>
          <p:nvPr/>
        </p:nvSpPr>
        <p:spPr>
          <a:xfrm>
            <a:off x="8494776" y="2002536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172033"/>
                </a:solidFill>
                <a:latin typeface="Liberation Sans"/>
              </a:rPr>
              <a:t>National • state • district • hospital • analyst / public</a:t>
            </a:r>
          </a:p>
        </p:txBody>
      </p:sp>
      <p:sp>
        <p:nvSpPr>
          <p:cNvPr id="48" name="Integrator flow 4 and 5"/>
          <p:cNvSpPr/>
          <p:nvPr/>
        </p:nvSpPr>
        <p:spPr>
          <a:xfrm>
            <a:off x="9692640" y="2304288"/>
            <a:ext cx="128016" cy="164592"/>
          </a:xfrm>
          <a:prstGeom prst="upDownArrow">
            <a:avLst/>
          </a:prstGeom>
          <a:solidFill>
            <a:srgbClr val="D55E00"/>
          </a:solidFill>
          <a:ln w="635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ntegrator portals and APIs" descr="ROLE PORTALS &amp; APIs. Dashboards • action inbox • One Health workbench • FHIR / JSON / CSV"/>
          <p:cNvSpPr/>
          <p:nvPr/>
        </p:nvSpPr>
        <p:spPr>
          <a:xfrm>
            <a:off x="8001000" y="2459736"/>
            <a:ext cx="3575304" cy="694944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ntegrator portals and APIs badge"/>
          <p:cNvSpPr/>
          <p:nvPr/>
        </p:nvSpPr>
        <p:spPr>
          <a:xfrm>
            <a:off x="8110727" y="2660904"/>
            <a:ext cx="292608" cy="292608"/>
          </a:xfrm>
          <a:prstGeom prst="ellipse">
            <a:avLst/>
          </a:prstGeom>
          <a:solidFill>
            <a:srgbClr val="D55E00"/>
          </a:solidFill>
          <a:ln w="889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iberation Sans"/>
              </a:rPr>
              <a:t>4</a:t>
            </a:r>
          </a:p>
        </p:txBody>
      </p:sp>
      <p:sp>
        <p:nvSpPr>
          <p:cNvPr id="51" name="Integrator portals and APIs title" descr="ROLE PORTALS &amp; APIs"/>
          <p:cNvSpPr txBox="1"/>
          <p:nvPr/>
        </p:nvSpPr>
        <p:spPr>
          <a:xfrm>
            <a:off x="8494776" y="2523744"/>
            <a:ext cx="2953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D55E00"/>
                </a:solidFill>
                <a:latin typeface="Liberation Sans"/>
              </a:rPr>
              <a:t>ROLE PORTALS &amp; APIs</a:t>
            </a:r>
          </a:p>
        </p:txBody>
      </p:sp>
      <p:sp>
        <p:nvSpPr>
          <p:cNvPr id="52" name="Integrator portals and APIs detail" descr="Dashboards • action inbox • One Health workbench • FHIR / JSON / CSV"/>
          <p:cNvSpPr txBox="1"/>
          <p:nvPr/>
        </p:nvSpPr>
        <p:spPr>
          <a:xfrm>
            <a:off x="8494776" y="2743200"/>
            <a:ext cx="2953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72033"/>
                </a:solidFill>
                <a:latin typeface="Liberation Sans"/>
              </a:rPr>
              <a:t>Dashboards • action inbox • One Health workbench • FHIR / JSON / CSV</a:t>
            </a:r>
          </a:p>
        </p:txBody>
      </p:sp>
      <p:sp>
        <p:nvSpPr>
          <p:cNvPr id="53" name="Integrator flow 3 and 4"/>
          <p:cNvSpPr/>
          <p:nvPr/>
        </p:nvSpPr>
        <p:spPr>
          <a:xfrm>
            <a:off x="9692640" y="3172968"/>
            <a:ext cx="128016" cy="164592"/>
          </a:xfrm>
          <a:prstGeom prst="upDownArrow">
            <a:avLst/>
          </a:prstGeom>
          <a:solidFill>
            <a:srgbClr val="D55E00"/>
          </a:solidFill>
          <a:ln w="635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ntegrator analytics and governance" descr="METRICS &amp; GOVERNANCE. Aggregate roll-up + k-anonymity • KPI snapshots • alerts • action plans"/>
          <p:cNvSpPr/>
          <p:nvPr/>
        </p:nvSpPr>
        <p:spPr>
          <a:xfrm>
            <a:off x="8001000" y="3328416"/>
            <a:ext cx="3575304" cy="749808"/>
          </a:xfrm>
          <a:prstGeom prst="roundRect">
            <a:avLst/>
          </a:prstGeom>
          <a:solidFill>
            <a:srgbClr val="EAF7F3"/>
          </a:solidFill>
          <a:ln w="13335">
            <a:solidFill>
              <a:srgbClr val="006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ntegrator analytics and governance badge"/>
          <p:cNvSpPr/>
          <p:nvPr/>
        </p:nvSpPr>
        <p:spPr>
          <a:xfrm>
            <a:off x="8110727" y="3557016"/>
            <a:ext cx="292608" cy="292608"/>
          </a:xfrm>
          <a:prstGeom prst="ellipse">
            <a:avLst/>
          </a:prstGeom>
          <a:solidFill>
            <a:srgbClr val="006B4E"/>
          </a:solidFill>
          <a:ln w="8890">
            <a:solidFill>
              <a:srgbClr val="006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56" name="Integrator analytics and governance title" descr="METRICS &amp; GOVERNANCE"/>
          <p:cNvSpPr txBox="1"/>
          <p:nvPr/>
        </p:nvSpPr>
        <p:spPr>
          <a:xfrm>
            <a:off x="8494776" y="3392424"/>
            <a:ext cx="2953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006B4E"/>
                </a:solidFill>
                <a:latin typeface="Liberation Sans"/>
              </a:rPr>
              <a:t>METRICS &amp; GOVERNANCE</a:t>
            </a:r>
          </a:p>
        </p:txBody>
      </p:sp>
      <p:sp>
        <p:nvSpPr>
          <p:cNvPr id="57" name="Integrator analytics and governance detail" descr="Aggregate roll-up + k-anonymity • KPI snapshots • alerts • action plans"/>
          <p:cNvSpPr txBox="1"/>
          <p:nvPr/>
        </p:nvSpPr>
        <p:spPr>
          <a:xfrm>
            <a:off x="8494776" y="3611880"/>
            <a:ext cx="2953512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72033"/>
                </a:solidFill>
                <a:latin typeface="Liberation Sans"/>
              </a:rPr>
              <a:t>Aggregate roll-up + k-anonymity • KPI snapshots • alerts • action plans</a:t>
            </a:r>
          </a:p>
        </p:txBody>
      </p:sp>
      <p:sp>
        <p:nvSpPr>
          <p:cNvPr id="58" name="Integrator flow 2 and 3"/>
          <p:cNvSpPr/>
          <p:nvPr/>
        </p:nvSpPr>
        <p:spPr>
          <a:xfrm>
            <a:off x="9692640" y="4096512"/>
            <a:ext cx="128016" cy="164592"/>
          </a:xfrm>
          <a:prstGeom prst="upDownArrow">
            <a:avLst/>
          </a:prstGeom>
          <a:solidFill>
            <a:srgbClr val="009E73"/>
          </a:solidFill>
          <a:ln w="635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Integrator aggregate data layer" descr="AGGREGATE DATA LAYER. Sites • queries / results • snapshots • data products • audit / lineage"/>
          <p:cNvSpPr/>
          <p:nvPr/>
        </p:nvSpPr>
        <p:spPr>
          <a:xfrm>
            <a:off x="8001000" y="4251960"/>
            <a:ext cx="3575304" cy="694944"/>
          </a:xfrm>
          <a:prstGeom prst="roundRect">
            <a:avLst/>
          </a:prstGeom>
          <a:solidFill>
            <a:srgbClr val="F3EEFA"/>
          </a:solidFill>
          <a:ln w="13335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Integrator aggregate data layer badge"/>
          <p:cNvSpPr/>
          <p:nvPr/>
        </p:nvSpPr>
        <p:spPr>
          <a:xfrm>
            <a:off x="8110727" y="4453128"/>
            <a:ext cx="292608" cy="292608"/>
          </a:xfrm>
          <a:prstGeom prst="ellipse">
            <a:avLst/>
          </a:prstGeom>
          <a:solidFill>
            <a:srgbClr val="7B61A8"/>
          </a:solidFill>
          <a:ln w="889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61" name="Integrator aggregate data layer title" descr="AGGREGATE DATA LAYER"/>
          <p:cNvSpPr txBox="1"/>
          <p:nvPr/>
        </p:nvSpPr>
        <p:spPr>
          <a:xfrm>
            <a:off x="8494776" y="4315968"/>
            <a:ext cx="2953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7B61A8"/>
                </a:solidFill>
                <a:latin typeface="Liberation Sans"/>
              </a:rPr>
              <a:t>AGGREGATE DATA LAYER</a:t>
            </a:r>
          </a:p>
        </p:txBody>
      </p:sp>
      <p:sp>
        <p:nvSpPr>
          <p:cNvPr id="62" name="Integrator aggregate data layer detail" descr="Sites • queries / results • snapshots • data products • audit / lineage"/>
          <p:cNvSpPr txBox="1"/>
          <p:nvPr/>
        </p:nvSpPr>
        <p:spPr>
          <a:xfrm>
            <a:off x="8494776" y="4535424"/>
            <a:ext cx="2953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72033"/>
                </a:solidFill>
                <a:latin typeface="Liberation Sans"/>
              </a:rPr>
              <a:t>Sites • queries / results • snapshots • data products • audit / lineage</a:t>
            </a:r>
          </a:p>
        </p:txBody>
      </p:sp>
      <p:sp>
        <p:nvSpPr>
          <p:cNvPr id="63" name="Integrator flow 1 and 2"/>
          <p:cNvSpPr/>
          <p:nvPr/>
        </p:nvSpPr>
        <p:spPr>
          <a:xfrm>
            <a:off x="9692640" y="4965192"/>
            <a:ext cx="128016" cy="164592"/>
          </a:xfrm>
          <a:prstGeom prst="upDownArrow">
            <a:avLst/>
          </a:prstGeom>
          <a:solidFill>
            <a:srgbClr val="7B61A8"/>
          </a:solidFill>
          <a:ln w="635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Integrator exchange gateway" descr="SITE EXCHANGE GATEWAY. Site authentication • query dispatch • PII guard • aggregate FHIR validation"/>
          <p:cNvSpPr/>
          <p:nvPr/>
        </p:nvSpPr>
        <p:spPr>
          <a:xfrm>
            <a:off x="8001000" y="5120640"/>
            <a:ext cx="3575304" cy="804672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8E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Integrator exchange gateway badge"/>
          <p:cNvSpPr/>
          <p:nvPr/>
        </p:nvSpPr>
        <p:spPr>
          <a:xfrm>
            <a:off x="8110727" y="5376672"/>
            <a:ext cx="292608" cy="292608"/>
          </a:xfrm>
          <a:prstGeom prst="ellipse">
            <a:avLst/>
          </a:prstGeom>
          <a:solidFill>
            <a:srgbClr val="8E3F00"/>
          </a:solidFill>
          <a:ln w="8890">
            <a:solidFill>
              <a:srgbClr val="8E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66" name="Integrator exchange gateway title" descr="SITE EXCHANGE GATEWAY"/>
          <p:cNvSpPr txBox="1"/>
          <p:nvPr/>
        </p:nvSpPr>
        <p:spPr>
          <a:xfrm>
            <a:off x="8494776" y="5184648"/>
            <a:ext cx="2953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8E3F00"/>
                </a:solidFill>
                <a:latin typeface="Liberation Sans"/>
              </a:rPr>
              <a:t>SITE EXCHANGE GATEWAY</a:t>
            </a:r>
          </a:p>
        </p:txBody>
      </p:sp>
      <p:sp>
        <p:nvSpPr>
          <p:cNvPr id="67" name="Integrator exchange gateway detail" descr="Site authentication • query dispatch • PII guard • aggregate FHIR validation"/>
          <p:cNvSpPr txBox="1"/>
          <p:nvPr/>
        </p:nvSpPr>
        <p:spPr>
          <a:xfrm>
            <a:off x="8494776" y="5404103"/>
            <a:ext cx="29535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72033"/>
                </a:solidFill>
                <a:latin typeface="Liberation Sans"/>
              </a:rPr>
              <a:t>Site authentication • query dispatch • PII guard • aggregate FHIR validation</a:t>
            </a:r>
          </a:p>
        </p:txBody>
      </p:sp>
      <p:sp>
        <p:nvSpPr>
          <p:cNvPr id="68" name="Integrator privacy note" descr="Stores aggregate and control-plane data only"/>
          <p:cNvSpPr txBox="1"/>
          <p:nvPr/>
        </p:nvSpPr>
        <p:spPr>
          <a:xfrm>
            <a:off x="8119872" y="5989320"/>
            <a:ext cx="33375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E3F00"/>
                </a:solidFill>
                <a:latin typeface="Liberation Sans"/>
              </a:rPr>
              <a:t>Stores aggregate and control-plane data only</a:t>
            </a:r>
          </a:p>
        </p:txBody>
      </p:sp>
      <p:sp>
        <p:nvSpPr>
          <p:cNvPr id="69" name="Privacy boundary footer" descr="Patient-level records stay in AMRIT Desktop. AMRIT Centerlized Integrator accepts aggregate de-identified responses and governed aggregate products."/>
          <p:cNvSpPr/>
          <p:nvPr/>
        </p:nvSpPr>
        <p:spPr>
          <a:xfrm>
            <a:off x="411480" y="6364224"/>
            <a:ext cx="11365992" cy="329184"/>
          </a:xfrm>
          <a:prstGeom prst="roundRect">
            <a:avLst/>
          </a:prstGeom>
          <a:solidFill>
            <a:srgbClr val="172033"/>
          </a:solidFill>
          <a:ln w="889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Liberation Sans"/>
              </a:rPr>
              <a:t>PRIVACY BOUNDARY  |  Patient-level records stay in AMRIT Desktop; AMRIT Centerlized Integrator accepts aggregate, de-identified data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AMRIT application data flow</dc:title>
  <dc:subject>Editable data-flow diagram for AMRIT Desktop and AMRIT Centerlized Integrator</dc:subject>
  <dc:creator>AMRIT</dc:creator>
  <cp:keywords>AMRIT, desktop, centralized integrator, aggregate data, FHIR, One Health</cp:keywords>
  <dc:description>All diagram elements are editable native PowerPoint shapes.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